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99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QWATT started at the Stellar x AI Studio Build Challenge and became a working protocol in two weeks. This deck: what exists, how it is architected, and the specific help we are asking from the Stellar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layer only trusts evidence from the layer below, and everything that reaches the chain is public. The oracle is a trusted component: QWATT is auditable and verifiable, not trustless - reducing that trust is the technical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19391" y="22174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D08A57"/>
                </a:solidFill>
              </a:rPr>
              <a:t>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88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W A T 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3017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H E   C L E A N   T O K E 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Energy, verified onchain — an energy verification protocol built on Stellar.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34356" y="4114800"/>
            <a:ext cx="192024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34356" y="4107485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STELLAR TESTNET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0" y="57607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the Stellar community · architecture, working system, and how you can help us grow ·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energy has a proof gap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are cheap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say their energy is clean. Marketing does not need meters.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7784" y="173736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6384" y="1920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are slow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96384" y="251460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RECs arrive months after the physical fact, with coarse granularity.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6928" y="1737360"/>
            <a:ext cx="3453384" cy="1737360"/>
          </a:xfrm>
          <a:prstGeom prst="roundRect">
            <a:avLst>
              <a:gd name="adj" fmla="val 3158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5528" y="192024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counting is structural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15528" y="2514600"/>
            <a:ext cx="2996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green MWh can be claimed more than once. Auditing it is expensive.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231A10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Meanwhile, the evidence already exists.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52628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Meters generate proof of every kWh, every second — and that data dies inside private systems. QWATT’s job is to take that measurement, verify it, and anchor it to a public ledger anyone can audit.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PROTOCOL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QWATT is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on-chain energy verification and tracking protocol: measurable renewable production → verified events → transparent records on Stellar.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231A10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QWATT represents 1 MWh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protocol convention, not a certified equivalence — turning it into an auditable equivalence is exactly what the pilot is for.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5330952" cy="1371600"/>
          </a:xfrm>
          <a:prstGeom prst="roundRect">
            <a:avLst>
              <a:gd name="adj" fmla="val 4000"/>
            </a:avLst>
          </a:prstGeom>
          <a:solidFill>
            <a:srgbClr val="231A10"/>
          </a:solidFill>
          <a:ln w="12700">
            <a:solidFill>
              <a:srgbClr val="3CB8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697480"/>
            <a:ext cx="4782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CB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electricity. Not a REC. Not a security.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3108960"/>
            <a:ext cx="4782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 is the digital representation of a measured energy event, with its evidence anchored on a public chain.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signature: every claim on the site wears its real status. Accuracy is the moat.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612648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3C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701845"/>
            <a:ext cx="612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B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89888" y="4709160"/>
            <a:ext cx="69037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4701845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08860" y="4709160"/>
            <a:ext cx="84582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8860" y="4701845"/>
            <a:ext cx="8458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83280" y="4709160"/>
            <a:ext cx="69037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8B7A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4701845"/>
            <a:ext cx="6903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02252" y="4709160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8B7A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2252" y="4701845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stages, honestly labeled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483864" cy="1481328"/>
          </a:xfrm>
          <a:prstGeom prst="roundRect">
            <a:avLst>
              <a:gd name="adj" fmla="val 3704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19656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GENERATE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43784" y="1837944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3784" y="1830629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49808" y="216712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renewable assets: solar, wind, storage. First kit in design (El Arrayán, Chile).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691640"/>
            <a:ext cx="3483864" cy="1481328"/>
          </a:xfrm>
          <a:prstGeom prst="roundRect">
            <a:avLst>
              <a:gd name="adj" fmla="val 3704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1819656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MEASURE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47688" y="1837944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7688" y="1830629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53712" y="216712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Modbus meter reads real generation; the bridge integrates it into kWh.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6448" y="1691640"/>
            <a:ext cx="3483864" cy="1481328"/>
          </a:xfrm>
          <a:prstGeom prst="roundRect">
            <a:avLst>
              <a:gd name="adj" fmla="val 3704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57616" y="1819656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VERIFY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451592" y="1837944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51592" y="1830629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357616" y="2167128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event is stamped with the real EPEX spot price as an attestation.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483864" cy="1481328"/>
          </a:xfrm>
          <a:prstGeom prst="roundRect">
            <a:avLst>
              <a:gd name="adj" fmla="val 3704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62102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RECORD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43784" y="3639312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3784" y="3631997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49808" y="3968496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QWATT payments on Stellar with proof-of-generation memos, 0.001 QWATT/kWh.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3493008"/>
            <a:ext cx="3483864" cy="1481328"/>
          </a:xfrm>
          <a:prstGeom prst="roundRect">
            <a:avLst>
              <a:gd name="adj" fmla="val 3704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53712" y="362102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TRACK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47688" y="3639312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3631997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53712" y="3968496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Asset, reserves and every transaction publicly auditable on Horizon forever.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56448" y="3493008"/>
            <a:ext cx="3483864" cy="1481328"/>
          </a:xfrm>
          <a:prstGeom prst="roundRect">
            <a:avLst>
              <a:gd name="adj" fmla="val 3704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57616" y="3621024"/>
            <a:ext cx="2020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SETTLE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451592" y="3639312"/>
            <a:ext cx="987552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8B7A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51592" y="3631997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57616" y="3968496"/>
            <a:ext cx="30815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payment and hedging applications built on the records. Future layer.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3949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 PoG#42:12.40kWh@173.44/MWh — the price of that hour, sealed in the transaction forever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layer stack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PHYSICAL ENERGY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566160" y="1691640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· wind · BESS — El Arrayán hybrid kit: 4.4 kWp + 9.6 kWh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85832" y="180136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85832" y="1794053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37360" y="21579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95144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3408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66160" y="2340864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meters · SCADA · WattNode bridge (kWh integration)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85832" y="2450592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85832" y="2443277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737360" y="28072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94436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990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ORACLE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66160" y="2990088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price: EPEX day-ahead, live · generation: PoG attestations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85832" y="3099816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3CB87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85832" y="3092501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B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+ PROTO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737360" y="345643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93592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639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66160" y="3639312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issuance · PoG payouts from treasury · vintage pricing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85832" y="3749040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85832" y="3741725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737360" y="41056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242816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885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STELLAR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566160" y="4288536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transactions · memos as attestations · public ledger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85832" y="4398264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85832" y="4390949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737360" y="47548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892040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4937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566160" y="4937760"/>
            <a:ext cx="6245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 · Proof of reserves · Grid · Pay · Pulse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085832" y="5047488"/>
            <a:ext cx="13258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85832" y="5040173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HARDWARE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WattNode v1 — the verification node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94960" cy="3291840"/>
          </a:xfrm>
          <a:prstGeom prst="roundRect">
            <a:avLst>
              <a:gd name="adj" fmla="val 1667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measurements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1945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meters, one per MPPT (Modbus RTU)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inverter Modbus 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00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32004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Shelly Pro 3EM — grid import/export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3703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witness: 5 W reference cell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Pi 4, read-only root, RTC, SE050 secure element, tamper detection, 4G uplink, powered from backup circuit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09360" y="1645920"/>
            <a:ext cx="5330952" cy="3291840"/>
          </a:xfrm>
          <a:prstGeom prst="roundRect">
            <a:avLst>
              <a:gd name="adj" fmla="val 1667"/>
            </a:avLst>
          </a:prstGeom>
          <a:solidFill>
            <a:srgbClr val="231A10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Two-party minting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2194560"/>
            <a:ext cx="478231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node validates physics (capacity caps, night, meter divergence, sun witness, clock, tamper) and signs evidence with its PANEL key.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treasury co-signer (HSM, cloud) re-checks plausibility and adds the second signature. Distributor key never touches a node.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atomic transaction: evidence hash + QWATT payment.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37960" y="4206240"/>
            <a:ext cx="4782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compromised node is a broken sensor, not a money printer.”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 DECK PROMISE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today, verifiable now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37170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qwatt.org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85716" y="185623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3C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84891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B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2221992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Bilingual protocol site · live dashboard on the real EPEX market — 24H to 5-year views, including negative-price hours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77356" y="1691640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5956" y="1828800"/>
            <a:ext cx="37170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314432" y="185623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14432" y="184891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505956" y="2221992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42.7M QWATT on Stellar testnet · genesis tx 1859e7e5… · atomic 3-op purchases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566160"/>
            <a:ext cx="37170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PoG mining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85716" y="359359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5716" y="358627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3959352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Crash-safe bridge pays 0.001 QWATT per verified kWh with idempotent PoG#id memos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7356" y="3429000"/>
            <a:ext cx="5362956" cy="1417320"/>
          </a:xfrm>
          <a:prstGeom prst="roundRect">
            <a:avLst>
              <a:gd name="adj" fmla="val 3871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5956" y="3566160"/>
            <a:ext cx="37170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314432" y="3593592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314432" y="3586277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TESTNET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05956" y="3959352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qwatt.org/proof — per-event evidence chains read live from Horizon, no backend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under two weeks, in public, from a Stellar × AI Studio Build Challenge project.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SOUND BY DESIGN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vintage-pricing invariant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mints when energy is cheapest. If QWATT were redeemable at current spot, everyone would mint at noon and redeem at night — a structural treasury drain.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5394960" cy="2011680"/>
          </a:xfrm>
          <a:prstGeom prst="roundRect">
            <a:avLst>
              <a:gd name="adj" fmla="val 2727"/>
            </a:avLst>
          </a:prstGeom>
          <a:solidFill>
            <a:srgbClr val="231A10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The broken design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at noon (~$0/MWh) → redeem at night ($200/MWh). The physical energy was already consumed at noon prices. The gap comes out of the treasury — every day. A free option on the power price, given away with every token.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377440"/>
            <a:ext cx="5330952" cy="2011680"/>
          </a:xfrm>
          <a:prstGeom prst="roundRect">
            <a:avLst>
              <a:gd name="adj" fmla="val 2727"/>
            </a:avLst>
          </a:prstGeom>
          <a:solidFill>
            <a:srgbClr val="231A10"/>
          </a:solidFill>
          <a:ln w="12700">
            <a:solidFill>
              <a:srgbClr val="3CB8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5420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B8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The QWATT rule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926080"/>
            <a:ext cx="4782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QWATT is valued at the price attested at its origin event — its vintage, sealed in the PoG memo — or a TWAP. Never at instantaneous spot. Time-shifting value belongs to the physical layer: batteries that store at noon and discharge at night.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into whitepaper §12 and enforced as a future Soroban contract invariant. No promise of redemption exists on testnet.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GREEN ATTRIBUTE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QWATT-Clean (planned)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4068" y="18288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4068" y="182880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 EVENT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2596" y="20299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0068" y="18288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31A10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0068" y="182880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QWATT + QWATT-C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68596" y="20299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16068" y="18288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6068" y="182880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054596" y="20299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02068" y="18288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31A10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2068" y="182880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RETIRE (BURN)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40596" y="20299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88068" y="1828800"/>
            <a:ext cx="1956816" cy="777240"/>
          </a:xfrm>
          <a:prstGeom prst="roundRect">
            <a:avLst>
              <a:gd name="adj" fmla="val 7059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88068" y="1828800"/>
            <a:ext cx="19568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PROOF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clean attribute per verified renewable MWh, carrying source, hour, plant and displaced grid-emission factor (kgCO2e).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Retirement burns the attribute: one green MWh can never be claimed twice. Any auditor verifies it in seconds.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buyers: companies that need provable ESG evidence — reports with verifiable links, not declarations.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231A10"/>
          </a:solidFill>
          <a:ln w="12700">
            <a:solidFill>
              <a:srgbClr val="8B7A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892040"/>
            <a:ext cx="1063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boundary: QWATT-C starts as a voluntary transparency instrument. It is not a REC, carbon credit, or subsidy-eligible title unless expressly homologated (I-REC / national schemes). Legal review gates every phase.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stack: generation → operations → sale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392424" cy="1783080"/>
          </a:xfrm>
          <a:prstGeom prst="roundRect">
            <a:avLst>
              <a:gd name="adj" fmla="val 3077"/>
            </a:avLst>
          </a:prstGeom>
          <a:solidFill>
            <a:srgbClr val="231A10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24028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 solar kits · on-grid 3–5 kWp · hybrid + storage · WattNode verification built 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95928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98264" y="1691640"/>
            <a:ext cx="3392424" cy="1783080"/>
          </a:xfrm>
          <a:prstGeom prst="roundRect">
            <a:avLst>
              <a:gd name="adj" fmla="val 3077"/>
            </a:avLst>
          </a:prstGeom>
          <a:solidFill>
            <a:srgbClr val="231A10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MONITORING &amp; OPS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99432" y="224028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Quorelia SCADA — industrial telemetry, reporting and alarms we already build for critical infrastructure (integration in design)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45552" y="237744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47888" y="1691640"/>
            <a:ext cx="3392424" cy="1783080"/>
          </a:xfrm>
          <a:prstGeom prst="roundRect">
            <a:avLst>
              <a:gd name="adj" fmla="val 3077"/>
            </a:avLst>
          </a:prstGeom>
          <a:solidFill>
            <a:srgbClr val="231A10"/>
          </a:solidFill>
          <a:ln w="12700">
            <a:solidFill>
              <a:srgbClr val="3C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828800"/>
            <a:ext cx="2990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CB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 &amp; SETTLEMENT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49056" y="2240280"/>
            <a:ext cx="29900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billing (CLP) · on-chain QWATT records · future QWATT-C attribute marketplace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7947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flywheel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installations in Chile fund the protocol (year-1 plan: 30 roofs, ~CLP 41M gross margin, bills up 50%+ since 2024) → the verification layer is the only differentiator in a commodity install market → every verified roof grows the base that makes QWATT-C real.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now: install margins 25–30% · monitoring SaaS · paperwork-as-a-service. Revenue later: attribute marketplace fees, retirement certificates, SCADA integration licensing.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STELLAR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Stellar primitives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498598" cy="1554480"/>
          </a:xfrm>
          <a:prstGeom prst="roundRect">
            <a:avLst>
              <a:gd name="adj" fmla="val 3529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3A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settlement finality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2998" y="1783080"/>
            <a:ext cx="2498598" cy="1554480"/>
          </a:xfrm>
          <a:prstGeom prst="roundRect">
            <a:avLst>
              <a:gd name="adj" fmla="val 3529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4438" y="201168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$0.00001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04438" y="265176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3A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 per operation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7356" y="1783080"/>
            <a:ext cx="2498598" cy="1554480"/>
          </a:xfrm>
          <a:prstGeom prst="roundRect">
            <a:avLst>
              <a:gd name="adj" fmla="val 3529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8796" y="201168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assets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368796" y="265176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3A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issuance without contract risk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1714" y="1783080"/>
            <a:ext cx="2498598" cy="1554480"/>
          </a:xfrm>
          <a:prstGeom prst="roundRect">
            <a:avLst>
              <a:gd name="adj" fmla="val 3529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3154" y="201168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33154" y="2651760"/>
            <a:ext cx="23157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3A4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attestations in every tx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10916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Trustlines gate who can hold the asset — a compliance primitive we get for free.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multi-operation transactions = purchases and payouts with no intermediary risk.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Soroban is our roadmap home for meter-signature verification and QWATT-C mint/retire invariants.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makes our Explorer possible with zero backend — every number verifiable by construction.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infrastructure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498598" cy="3017520"/>
          </a:xfrm>
          <a:prstGeom prst="roundRect">
            <a:avLst>
              <a:gd name="adj" fmla="val 2196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38528"/>
            <a:ext cx="21328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3C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2440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CB8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asset · live price oracle · PoG bridge · site + Explorer · whitepaper v2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12998" y="1783080"/>
            <a:ext cx="2498598" cy="3017520"/>
          </a:xfrm>
          <a:prstGeom prst="roundRect">
            <a:avLst>
              <a:gd name="adj" fmla="val 2196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95878" y="1938528"/>
            <a:ext cx="21328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2026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595878" y="23317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9B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5878" y="232440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95878" y="2743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Arrayán pilot hardware · meter-signed readings · first real PoG events · 3 reference installs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7356" y="1783080"/>
            <a:ext cx="2498598" cy="3017520"/>
          </a:xfrm>
          <a:prstGeom prst="roundRect">
            <a:avLst>
              <a:gd name="adj" fmla="val 2196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0236" y="1938528"/>
            <a:ext cx="21328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2027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60236" y="23317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D08A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0236" y="232440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460236" y="2743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Soroban verification contract · treasury multisig · security audit · WattNode v1 in field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41714" y="1783080"/>
            <a:ext cx="2498598" cy="3017520"/>
          </a:xfrm>
          <a:prstGeom prst="roundRect">
            <a:avLst>
              <a:gd name="adj" fmla="val 2196"/>
            </a:avLst>
          </a:prstGeom>
          <a:solidFill>
            <a:srgbClr val="231A10"/>
          </a:solidFill>
          <a:ln w="12700">
            <a:solidFill>
              <a:srgbClr val="3B2D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4594" y="1938528"/>
            <a:ext cx="21328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 2027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324594" y="233172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16100A"/>
          </a:solidFill>
          <a:ln w="12700">
            <a:solidFill>
              <a:srgbClr val="8B7A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4594" y="2324405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324594" y="2743200"/>
            <a:ext cx="213283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QWATT-C attribute layer · settlement apps · regulatory evaluation pre-mainnet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0749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9B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visible milestone: QW-000001 — the first energy event from a real roof, at its own shareable URL in the Explorer.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QWATT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525512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7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Clean Token · qwatt.org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YOU CAN HELP US GROW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to the Stellar community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SCF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1645920"/>
            <a:ext cx="7708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application path: Tranche 0 (legal review of the token + attribute model) and Tranche 2 (fund 10–20 prosumers with real meters). Feedback on the draft welcome.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532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43000" y="24871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Soroban design review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487168"/>
            <a:ext cx="7708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verification contract (meter signatures, two-party minting, vintage invariant, QWATT-C mint/retire). We want experienced eyes before we build it.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332841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connections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3328416"/>
            <a:ext cx="7708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Anchors and wallets for LatAm, projects doing RWA/oracle work on Stellar, and anyone who has taken a testnet asset through compliance to mainnet.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21538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43000" y="416966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partners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4169664"/>
            <a:ext cx="7708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Roofs in Chile (or elsewhere) willing to host a WattNode — and energy-sector people who can challenge our SCADA-to-chain assumptions.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0566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08A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3000" y="501091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our claims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5010912"/>
            <a:ext cx="7708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is public. Read the whitepaper, audit the Explorer, tell us where the evidence chain is weakest. Accuracy is our moat — help us defend it.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0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B3A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DON’T TRUST IT.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25146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08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IT.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5204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9B2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qwatt.org · qwatt.org/proof · qwatt.org/whitepaper.html · github.com/academiaseul/QWATT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40690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E8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Jay &amp; Diego — co-founders, shared roles: both engineer, both design, both sell, both build.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557784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7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on Stellar testnet. Nothing here is an offer of securities or investment advice; QWATT is not for sale. Legal review precedes any mainnet or commercial step.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1829</Words>
  <Application>Microsoft Office PowerPoint</Application>
  <PresentationFormat>Widescreen</PresentationFormat>
  <Paragraphs>234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QWATT - The Clean Token - Stellar Community</dc:title>
  <dc:subject>PptxGenJS Presentation</dc:subject>
  <dc:creator>QWATT</dc:creator>
  <cp:lastModifiedBy>Jae Hee Kim</cp:lastModifiedBy>
  <cp:revision>2</cp:revision>
  <dcterms:created xsi:type="dcterms:W3CDTF">2026-08-23T11:26:42Z</dcterms:created>
  <dcterms:modified xsi:type="dcterms:W3CDTF">2026-08-23T11:28:12Z</dcterms:modified>
</cp:coreProperties>
</file>