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"/>
  </p:notesMasterIdLst>
  <p:sldIdLst>
    <p:sldId id="256" r:id="rId2"/>
    <p:sldId id="257" r:id="rId3"/>
    <p:sldId id="258" r:id="rId4"/>
    <p:sldId id="259" r:id="rId5"/>
    <p:sldId id="260" r:id="rId6"/>
    <p:sldId id="261" r:id="rId7"/>
    <p:sldId id="270" r:id="rId21"/>
    <p:sldId id="262" r:id="rId8"/>
    <p:sldId id="271" r:id="rId22"/>
    <p:sldId id="263" r:id="rId9"/>
    <p:sldId id="264" r:id="rId10"/>
    <p:sldId id="265" r:id="rId11"/>
    <p:sldId id="266" r:id="rId12"/>
    <p:sldId id="267" r:id="rId13"/>
    <p:sldId id="268" r:id="rId14"/>
    <p:sldId id="272" r:id="rId23"/>
    <p:sldId id="269" r:id="rId15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3" d="100"/>
          <a:sy n="83" d="100"/>
        </p:scale>
        <p:origin x="658" y="77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319918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QWATT started at the Stellar x AI Studio Build Challenge and became a working protocol in two weeks. This deck: what exists, how it is architected, and the specific help we are asking from the Stellar community.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layer only trusts evidence from the layer below, and everything that reaches the chain is public. The oracle is a trusted component: QWATT is auditable and verifiable, not trustless - reducing that trust is the technical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6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719391" y="2217420"/>
            <a:ext cx="731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dirty="0">
                <a:solidFill>
                  <a:srgbClr val="D08A57"/>
                </a:solidFill>
              </a:rPr>
              <a:t>⚡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2148840"/>
            <a:ext cx="1218895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5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 W A T T</a:t>
            </a:r>
            <a:endParaRPr lang="en-US" sz="5400" dirty="0"/>
          </a:p>
        </p:txBody>
      </p:sp>
      <p:sp>
        <p:nvSpPr>
          <p:cNvPr id="4" name="Text 2"/>
          <p:cNvSpPr/>
          <p:nvPr/>
        </p:nvSpPr>
        <p:spPr>
          <a:xfrm>
            <a:off x="0" y="301752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 H E   C L E A N   T O K E N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0" y="3520440"/>
            <a:ext cx="121889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Energy, verified onchain — an energy verification protocol built on Stellar.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5134356" y="4114800"/>
            <a:ext cx="192024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34356" y="4107485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STELLAR TESTNET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0" y="576072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For the Stellar community · architecture, working system, and how you can help us grow · August 2026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Green energy has a proof gap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3736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920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Claims are cheap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77240" y="251460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Anyone can say their energy is clean. Marketing does not need meters.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67784" y="173736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96384" y="1920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 are slow</a:t>
            </a:r>
            <a:endParaRPr lang="en-US" sz="1700" dirty="0"/>
          </a:p>
        </p:txBody>
      </p:sp>
      <p:sp>
        <p:nvSpPr>
          <p:cNvPr id="11" name="Text 9"/>
          <p:cNvSpPr/>
          <p:nvPr/>
        </p:nvSpPr>
        <p:spPr>
          <a:xfrm>
            <a:off x="4596384" y="251460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RECs arrive months after the physical fact, with coarse granularity.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8186928" y="1737360"/>
            <a:ext cx="3453384" cy="1737360"/>
          </a:xfrm>
          <a:prstGeom prst="roundRect">
            <a:avLst>
              <a:gd name="adj" fmla="val 3158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415528" y="1920240"/>
            <a:ext cx="299618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Double counting is structural</a:t>
            </a:r>
            <a:endParaRPr lang="en-US" sz="1700" dirty="0"/>
          </a:p>
        </p:txBody>
      </p:sp>
      <p:sp>
        <p:nvSpPr>
          <p:cNvPr id="14" name="Text 12"/>
          <p:cNvSpPr/>
          <p:nvPr/>
        </p:nvSpPr>
        <p:spPr>
          <a:xfrm>
            <a:off x="8415528" y="2514600"/>
            <a:ext cx="2996184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same green MWh can be claimed more than once. Auditing it is expensive.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931920"/>
            <a:ext cx="11091672" cy="1371600"/>
          </a:xfrm>
          <a:prstGeom prst="roundRect">
            <a:avLst>
              <a:gd name="adj" fmla="val 4000"/>
            </a:avLst>
          </a:prstGeom>
          <a:solidFill>
            <a:srgbClr val="231A10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22960" y="4114800"/>
            <a:ext cx="10543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Meanwhile, the evidence already exists.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822960" y="4526280"/>
            <a:ext cx="1054303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Meters generate proof of every kWh, every second — and that data dies inside private systems. QWATT’s job is to take that measurement, verify it, and anchor it to a public ledger anyone can audit.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PROTOCOL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QWATT 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 on-chain energy verification and tracking protocol: measurable renewable production → verified events → transparent records on Stellar.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2514600"/>
            <a:ext cx="5394960" cy="1371600"/>
          </a:xfrm>
          <a:prstGeom prst="roundRect">
            <a:avLst>
              <a:gd name="adj" fmla="val 4000"/>
            </a:avLst>
          </a:prstGeom>
          <a:solidFill>
            <a:srgbClr val="231A10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697480"/>
            <a:ext cx="48463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9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QWATT represents 1 MWh</a:t>
            </a:r>
            <a:endParaRPr lang="en-US" sz="1900" dirty="0"/>
          </a:p>
        </p:txBody>
      </p:sp>
      <p:sp>
        <p:nvSpPr>
          <p:cNvPr id="9" name="Text 7"/>
          <p:cNvSpPr/>
          <p:nvPr/>
        </p:nvSpPr>
        <p:spPr>
          <a:xfrm>
            <a:off x="822960" y="3108960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protocol convention, not a certified equivalence — turning it into an auditable equivalence is exactly what the pilot is for.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2514600"/>
            <a:ext cx="5330952" cy="1371600"/>
          </a:xfrm>
          <a:prstGeom prst="roundRect">
            <a:avLst>
              <a:gd name="adj" fmla="val 4000"/>
            </a:avLst>
          </a:prstGeom>
          <a:solidFill>
            <a:srgbClr val="231A10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0" y="2697480"/>
            <a:ext cx="478231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3CB8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Not electricity. Not a REC. Not a security.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583680" y="3108960"/>
            <a:ext cx="478231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 is the digital representation of a measured energy event, with its evidence anchored on a public chain.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29768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signature: every claim on the site wears its real status. Accuracy is the moat.</a:t>
            </a:r>
            <a:endParaRPr lang="en-US" sz="1350" dirty="0"/>
          </a:p>
        </p:txBody>
      </p:sp>
      <p:sp>
        <p:nvSpPr>
          <p:cNvPr id="14" name="Shape 12"/>
          <p:cNvSpPr/>
          <p:nvPr/>
        </p:nvSpPr>
        <p:spPr>
          <a:xfrm>
            <a:off x="548640" y="4709160"/>
            <a:ext cx="612648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48640" y="4701845"/>
            <a:ext cx="6126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1389888" y="4709160"/>
            <a:ext cx="69037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1389888" y="4701845"/>
            <a:ext cx="6903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2308860" y="4709160"/>
            <a:ext cx="84582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308860" y="4701845"/>
            <a:ext cx="8458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383280" y="4709160"/>
            <a:ext cx="69037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8B7A6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83280" y="4701845"/>
            <a:ext cx="6903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302252" y="4709160"/>
            <a:ext cx="45720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8B7A6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302252" y="4701845"/>
            <a:ext cx="457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DEMO</a:t>
            </a:r>
            <a:endParaRPr lang="en-US" sz="8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IT WORKS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Six stages, honestly labeled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19656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 GENERATE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2843784" y="1837944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843784" y="1830629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49808" y="2167128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Physical renewable assets: solar, wind, storage. First kit in design (El Arrayán, Chile).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352544" y="1691640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553712" y="1819656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 MEASURE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647688" y="1837944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647688" y="1830629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4553712" y="2167128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Modbus meter reads real generation; the bridge integrates it into kWh.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8156448" y="1691640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8357616" y="1819656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 VERIFY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10451592" y="1837944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10451592" y="1830629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8357616" y="2167128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Each event is stamped with the real EPEX spot price as an attestation.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548640" y="3493008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49808" y="362102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 RECORD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2843784" y="3639312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2843784" y="3631997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749808" y="3968496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QWATT payments on Stellar with proof-of-generation memos, 0.001 QWATT/kWh.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352544" y="3493008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553712" y="362102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TRACK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6647688" y="3639312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47688" y="3631997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4553712" y="3968496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Asset, reserves and every transaction publicly auditable on Horizon forever.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8156448" y="3493008"/>
            <a:ext cx="3483864" cy="1481328"/>
          </a:xfrm>
          <a:prstGeom prst="roundRect">
            <a:avLst>
              <a:gd name="adj" fmla="val 3704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8357616" y="3621024"/>
            <a:ext cx="2020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06 SETTLE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451592" y="3639312"/>
            <a:ext cx="987552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8B7A64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451592" y="3631997"/>
            <a:ext cx="9875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8357616" y="3968496"/>
            <a:ext cx="30815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Bill payment and hedging applications built on the records. Future layer.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539496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memo PoG#42:12.40kWh@173.44/MWh — the price of that hour, sealed in the transaction forever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ARCHITECTURE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layer stack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69164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PHYSICAL ENERGY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3566160" y="1691640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· wind · BESS — El Arrayán hybrid kit: 4.4 kWp + 9.6 kWh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10085832" y="1801368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0085832" y="1794053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PILOT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1737360" y="2157984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2295144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77240" y="2340864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MEASUREMENT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3566160" y="2340864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Modbus meters · SCADA · WattNode bridge (kWh integration)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0085832" y="2450592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10085832" y="2443277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1737360" y="2807208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548640" y="2944368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777240" y="2990088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ORACLE</a:t>
            </a:r>
            <a:endParaRPr lang="en-US" sz="1250" dirty="0"/>
          </a:p>
        </p:txBody>
      </p:sp>
      <p:sp>
        <p:nvSpPr>
          <p:cNvPr id="20" name="Text 18"/>
          <p:cNvSpPr/>
          <p:nvPr/>
        </p:nvSpPr>
        <p:spPr>
          <a:xfrm>
            <a:off x="3566160" y="2990088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price: EPEX day-ahead, live · generation: PoG attestations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10085832" y="3099816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085832" y="3092501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LIVE + PROTO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1737360" y="3456432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548640" y="3593592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3639312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PROTOCOL</a:t>
            </a:r>
            <a:endParaRPr lang="en-US" sz="1250" dirty="0"/>
          </a:p>
        </p:txBody>
      </p:sp>
      <p:sp>
        <p:nvSpPr>
          <p:cNvPr id="26" name="Text 24"/>
          <p:cNvSpPr/>
          <p:nvPr/>
        </p:nvSpPr>
        <p:spPr>
          <a:xfrm>
            <a:off x="3566160" y="3639312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issuance · PoG payouts from treasury · vintage pricing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10085832" y="3749040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0085832" y="3741725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1737360" y="4105656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30" name="Shape 28"/>
          <p:cNvSpPr/>
          <p:nvPr/>
        </p:nvSpPr>
        <p:spPr>
          <a:xfrm>
            <a:off x="548640" y="4242816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777240" y="4288536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STELLAR</a:t>
            </a:r>
            <a:endParaRPr lang="en-US" sz="1250" dirty="0"/>
          </a:p>
        </p:txBody>
      </p:sp>
      <p:sp>
        <p:nvSpPr>
          <p:cNvPr id="32" name="Text 30"/>
          <p:cNvSpPr/>
          <p:nvPr/>
        </p:nvSpPr>
        <p:spPr>
          <a:xfrm>
            <a:off x="3566160" y="4288536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transactions · memos as attestations · public ledger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10085832" y="4398264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10085832" y="4390949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1737360" y="4754880"/>
            <a:ext cx="2743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↓</a:t>
            </a:r>
            <a:endParaRPr lang="en-US" sz="1200" dirty="0"/>
          </a:p>
        </p:txBody>
      </p:sp>
      <p:sp>
        <p:nvSpPr>
          <p:cNvPr id="36" name="Shape 34"/>
          <p:cNvSpPr/>
          <p:nvPr/>
        </p:nvSpPr>
        <p:spPr>
          <a:xfrm>
            <a:off x="548640" y="4892040"/>
            <a:ext cx="11091672" cy="566928"/>
          </a:xfrm>
          <a:prstGeom prst="roundRect">
            <a:avLst>
              <a:gd name="adj" fmla="val 967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77240" y="4937760"/>
            <a:ext cx="2651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APPLICATIONS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3566160" y="4937760"/>
            <a:ext cx="62453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 · Proof of reserves · Grid · Pay · Pulse</a:t>
            </a:r>
            <a:endParaRPr lang="en-US" sz="1200" dirty="0"/>
          </a:p>
        </p:txBody>
      </p:sp>
      <p:sp>
        <p:nvSpPr>
          <p:cNvPr id="39" name="Shape 37"/>
          <p:cNvSpPr/>
          <p:nvPr/>
        </p:nvSpPr>
        <p:spPr>
          <a:xfrm>
            <a:off x="10085832" y="5047488"/>
            <a:ext cx="13258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10085832" y="5040173"/>
            <a:ext cx="1325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FIELD HARDWARE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WattNode v1 — the verification node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45920"/>
            <a:ext cx="5394960" cy="3291840"/>
          </a:xfrm>
          <a:prstGeom prst="roundRect">
            <a:avLst>
              <a:gd name="adj" fmla="val 1667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783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Independent measurements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M1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325880" y="219456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DC meters, one per MPPT (Modbus RTU)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77240" y="269748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M2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25880" y="269748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Hybrid inverter Modbus port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777240" y="320040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M3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1325880" y="320040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Shelly Pro 3EM — grid import/export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777240" y="3703320"/>
            <a:ext cx="502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M4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325880" y="3703320"/>
            <a:ext cx="43891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witness: 5 W reference cell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77240" y="4251960"/>
            <a:ext cx="4937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8B7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 Pi 4, read-only root, RTC, SE050 secure element, tamper detection, 4G uplink, powered from backup circuit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309360" y="1645920"/>
            <a:ext cx="5330952" cy="3291840"/>
          </a:xfrm>
          <a:prstGeom prst="roundRect">
            <a:avLst>
              <a:gd name="adj" fmla="val 1667"/>
            </a:avLst>
          </a:prstGeom>
          <a:solidFill>
            <a:srgbClr val="231A10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537960" y="17830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Two-party minting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537960" y="2194560"/>
            <a:ext cx="4782312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node validates physics (capacity caps, night, meter divergence, sun witness, clock, tamper) and signs evidence with its PANEL key.</a:t>
            </a:r>
            <a:endParaRPr lang="en-US" sz="12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treasury co-signer (HSM, cloud) re-checks plausibility and adds the second signature. Distributor key never touches a node.</a:t>
            </a:r>
            <a:endParaRPr lang="en-US" sz="1200" dirty="0"/>
          </a:p>
          <a:p>
            <a:pPr marL="342900" indent="-342900">
              <a:buSzPct val="100000"/>
              <a:buChar char="•"/>
            </a:pPr>
            <a:r>
              <a:rPr lang="en-US" sz="12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atomic transaction: evidence hash + QWATT payment.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6537960" y="4206240"/>
            <a:ext cx="478231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i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“A compromised node is a broken sensor, not a money printer.”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 A DECK PROMISE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Working today, verifiable now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77240" y="182880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qwatt.org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4585716" y="185623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85716" y="184891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77240" y="222199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 protocol site · live dashboard on the real EPEX market — 24H to 5-year views, including negative-price hours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77356" y="169164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505956" y="182880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asset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10314432" y="185623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10314432" y="184891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505956" y="222199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42.7M QWATT on Stellar testnet · genesis tx 1859e7e5… · atomic 3-op purchases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548640" y="342900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777240" y="356616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PoG mining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4585716" y="359359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85716" y="35862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PROTOTYPE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777240" y="395935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Crash-safe bridge pays 0.001 QWATT per verified kWh with idempotent PoG#id memos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6277356" y="342900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505956" y="356616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Explorer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10314432" y="359359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10314432" y="35862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TESTNET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05956" y="395935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qwatt.org/proof — per-event evidence chains read live from Horizon, no backend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5349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in under two weeks, in public, from a Stellar × AI Studio Build Challenge project.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SOUND BY DESIGN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vintage-pricing invariant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00200"/>
            <a:ext cx="1109167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mints when energy is cheapest. If QWATT were redeemable at current spot, everyone would mint at noon and redeem at night — a structural treasury drain.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548640" y="2377440"/>
            <a:ext cx="5394960" cy="2011680"/>
          </a:xfrm>
          <a:prstGeom prst="roundRect">
            <a:avLst>
              <a:gd name="adj" fmla="val 2727"/>
            </a:avLst>
          </a:prstGeom>
          <a:solidFill>
            <a:srgbClr val="231A10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777240" y="2542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E05C5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  The broken design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777240" y="2926080"/>
            <a:ext cx="493776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Mint at noon (~$0/MWh) → redeem at night ($200/MWh). The physical energy was already consumed at noon prices. The gap comes out of the treasury — every day. A free option on the power price, given away with every token.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309360" y="2377440"/>
            <a:ext cx="5330952" cy="2011680"/>
          </a:xfrm>
          <a:prstGeom prst="roundRect">
            <a:avLst>
              <a:gd name="adj" fmla="val 2727"/>
            </a:avLst>
          </a:prstGeom>
          <a:solidFill>
            <a:srgbClr val="231A10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37960" y="2542032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3CB87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✓  The QWATT rule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2926080"/>
            <a:ext cx="4782312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QWATT is valued at the price attested at its origin event — its vintage, sealed in the PoG memo — or a TWAP. Never at instantaneous spot. Time-shifting value belongs to the physical layer: batteries that store at noon and discharge at night.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548640" y="470916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B7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Written into whitepaper §12 and enforced as a future Soroban contract invariant. No promise of redemption exists on testnet.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GREEN ATTRIBUTE LAYER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QWATT-Clean (planned)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4068" y="1828800"/>
            <a:ext cx="1956816" cy="777240"/>
          </a:xfrm>
          <a:prstGeom prst="roundRect">
            <a:avLst>
              <a:gd name="adj" fmla="val 705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44068" y="182880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VERIFIED EVENT</a:t>
            </a:r>
            <a:endParaRPr lang="en-US" sz="1050" dirty="0"/>
          </a:p>
        </p:txBody>
      </p:sp>
      <p:sp>
        <p:nvSpPr>
          <p:cNvPr id="8" name="Text 6"/>
          <p:cNvSpPr/>
          <p:nvPr/>
        </p:nvSpPr>
        <p:spPr>
          <a:xfrm>
            <a:off x="2482596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2830068" y="1828800"/>
            <a:ext cx="1956816" cy="777240"/>
          </a:xfrm>
          <a:prstGeom prst="roundRect">
            <a:avLst>
              <a:gd name="adj" fmla="val 7059"/>
            </a:avLst>
          </a:prstGeom>
          <a:solidFill>
            <a:srgbClr val="231A10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2830068" y="182880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QWATT + QWATT-C</a:t>
            </a:r>
            <a:endParaRPr lang="en-US" sz="1050" dirty="0"/>
          </a:p>
        </p:txBody>
      </p:sp>
      <p:sp>
        <p:nvSpPr>
          <p:cNvPr id="11" name="Text 9"/>
          <p:cNvSpPr/>
          <p:nvPr/>
        </p:nvSpPr>
        <p:spPr>
          <a:xfrm>
            <a:off x="4768596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116068" y="1828800"/>
            <a:ext cx="1956816" cy="777240"/>
          </a:xfrm>
          <a:prstGeom prst="roundRect">
            <a:avLst>
              <a:gd name="adj" fmla="val 705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116068" y="182880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TRANSFER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7054596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7402068" y="1828800"/>
            <a:ext cx="1956816" cy="777240"/>
          </a:xfrm>
          <a:prstGeom prst="roundRect">
            <a:avLst>
              <a:gd name="adj" fmla="val 7059"/>
            </a:avLst>
          </a:prstGeom>
          <a:solidFill>
            <a:srgbClr val="231A10"/>
          </a:solidFill>
          <a:ln w="12700">
            <a:solidFill>
              <a:srgbClr val="E05C5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402068" y="182880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RETIRE (BURN)</a:t>
            </a:r>
            <a:endParaRPr lang="en-US" sz="1050" dirty="0"/>
          </a:p>
        </p:txBody>
      </p:sp>
      <p:sp>
        <p:nvSpPr>
          <p:cNvPr id="17" name="Text 15"/>
          <p:cNvSpPr/>
          <p:nvPr/>
        </p:nvSpPr>
        <p:spPr>
          <a:xfrm>
            <a:off x="9340596" y="2029968"/>
            <a:ext cx="38404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9688068" y="1828800"/>
            <a:ext cx="1956816" cy="777240"/>
          </a:xfrm>
          <a:prstGeom prst="roundRect">
            <a:avLst>
              <a:gd name="adj" fmla="val 705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9688068" y="1828800"/>
            <a:ext cx="195681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PUBLIC PROOF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48640" y="3017520"/>
            <a:ext cx="11091672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One clean attribute per verified renewable MWh, carrying source, hour, plant and displaced grid-emission factor (kgCO2e).</a:t>
            </a:r>
            <a:endParaRPr lang="en-US" sz="13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Retirement burns the attribute: one green MWh can never be claimed twice. Any auditor verifies it in seconds.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Target buyers: companies that need provable ESG evidence — reports with verifiable links, not declarations.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48640" y="4800600"/>
            <a:ext cx="11091672" cy="868680"/>
          </a:xfrm>
          <a:prstGeom prst="roundRect">
            <a:avLst>
              <a:gd name="adj" fmla="val 6316"/>
            </a:avLst>
          </a:prstGeom>
          <a:solidFill>
            <a:srgbClr val="231A10"/>
          </a:solidFill>
          <a:ln w="12700">
            <a:solidFill>
              <a:srgbClr val="8B7A6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4892040"/>
            <a:ext cx="1063447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8B7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Regulatory boundary: QWATT-C starts as a voluntary transparency instrument. It is not a REC, carbon credit, or subsidy-eligible title unless expressly homologated (I-REC / national schemes). Legal review gates every phase.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BUSINESS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Full stack: generation → operations → sale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691640"/>
            <a:ext cx="3392424" cy="1783080"/>
          </a:xfrm>
          <a:prstGeom prst="roundRect">
            <a:avLst>
              <a:gd name="adj" fmla="val 3077"/>
            </a:avLst>
          </a:prstGeom>
          <a:solidFill>
            <a:srgbClr val="231A10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49808" y="1828800"/>
            <a:ext cx="2990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GENERATION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749808" y="2240280"/>
            <a:ext cx="29900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 solar kits · on-grid 3–5 kWp · hybrid + storage · WattNode verification built in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3995928" y="23774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398264" y="1691640"/>
            <a:ext cx="3392424" cy="1783080"/>
          </a:xfrm>
          <a:prstGeom prst="roundRect">
            <a:avLst>
              <a:gd name="adj" fmla="val 3077"/>
            </a:avLst>
          </a:prstGeom>
          <a:solidFill>
            <a:srgbClr val="231A10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99432" y="1828800"/>
            <a:ext cx="2990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MONITORING &amp; OPS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4599432" y="2240280"/>
            <a:ext cx="29900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Quorelia SCADA — industrial telemetry, reporting and alarms we already build for critical infrastructure (integration in design)</a:t>
            </a:r>
            <a:endParaRPr lang="en-US" sz="1150" dirty="0"/>
          </a:p>
        </p:txBody>
      </p:sp>
      <p:sp>
        <p:nvSpPr>
          <p:cNvPr id="13" name="Text 11"/>
          <p:cNvSpPr/>
          <p:nvPr/>
        </p:nvSpPr>
        <p:spPr>
          <a:xfrm>
            <a:off x="7845552" y="2377440"/>
            <a:ext cx="365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→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8247888" y="1691640"/>
            <a:ext cx="3392424" cy="1783080"/>
          </a:xfrm>
          <a:prstGeom prst="roundRect">
            <a:avLst>
              <a:gd name="adj" fmla="val 3077"/>
            </a:avLst>
          </a:prstGeom>
          <a:solidFill>
            <a:srgbClr val="231A10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8449056" y="1828800"/>
            <a:ext cx="299008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SALE &amp; SETTLEMENT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8449056" y="2240280"/>
            <a:ext cx="2990088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Net billing (CLP) · on-chain QWATT records · future QWATT-C attribute marketplace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548640" y="3794760"/>
            <a:ext cx="110916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flywheel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548640" y="4160520"/>
            <a:ext cx="1109167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Solar installations in Chile fund the protocol (year-1 plan: 30 roofs, ~CLP 41M gross margin, bills up 50%+ since 2024) → the verification layer is the only differentiator in a commodity install market → every verified roof grows the base that makes QWATT-C real.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548640" y="5029200"/>
            <a:ext cx="1109167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8B7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Revenue now: install margins 25–30% · monitoring SaaS · paperwork-as-a-service. Revenue later: attribute marketplace fees, retirement certificates, SCADA integration licensing.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WHY STELLAR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Built entirely on Stellar primitives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498598" cy="1554480"/>
          </a:xfrm>
          <a:prstGeom prst="roundRect">
            <a:avLst>
              <a:gd name="adj" fmla="val 352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40080" y="201168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~5 s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640080" y="265176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3A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settlement finality</a:t>
            </a:r>
            <a:endParaRPr lang="en-US" sz="1050" dirty="0"/>
          </a:p>
        </p:txBody>
      </p:sp>
      <p:sp>
        <p:nvSpPr>
          <p:cNvPr id="9" name="Shape 7"/>
          <p:cNvSpPr/>
          <p:nvPr/>
        </p:nvSpPr>
        <p:spPr>
          <a:xfrm>
            <a:off x="3412998" y="1783080"/>
            <a:ext cx="2498598" cy="1554480"/>
          </a:xfrm>
          <a:prstGeom prst="roundRect">
            <a:avLst>
              <a:gd name="adj" fmla="val 352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504438" y="201168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$0.00001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504438" y="265176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3A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fee per operation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6277356" y="1783080"/>
            <a:ext cx="2498598" cy="1554480"/>
          </a:xfrm>
          <a:prstGeom prst="roundRect">
            <a:avLst>
              <a:gd name="adj" fmla="val 352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368796" y="201168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Native assets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368796" y="265176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3A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issuance without contract risk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9141714" y="1783080"/>
            <a:ext cx="2498598" cy="1554480"/>
          </a:xfrm>
          <a:prstGeom prst="roundRect">
            <a:avLst>
              <a:gd name="adj" fmla="val 3529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9233154" y="201168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400" b="1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Memos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233154" y="2651760"/>
            <a:ext cx="231571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dirty="0">
                <a:solidFill>
                  <a:srgbClr val="B3A48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attestations in every tx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548640" y="3657600"/>
            <a:ext cx="11091672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Trustlines gate who can hold the asset — a compliance primitive we get for free.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Atomic multi-operation transactions = purchases and payouts with no intermediary risk.</a:t>
            </a:r>
            <a:endParaRPr lang="en-US" sz="13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Soroban is our roadmap home for meter-signature verification and QWATT-C mint/retire invariants.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 makes our Explorer possible with zero backend — every number verifiable by construction.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ROADMAP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prototype to infrastructure</a:t>
            </a:r>
            <a:endParaRPr lang="en-US" sz="3000" dirty="0"/>
          </a:p>
        </p:txBody>
      </p:sp>
      <p:sp>
        <p:nvSpPr>
          <p:cNvPr id="6" name="Shape 4"/>
          <p:cNvSpPr/>
          <p:nvPr/>
        </p:nvSpPr>
        <p:spPr>
          <a:xfrm>
            <a:off x="548640" y="1783080"/>
            <a:ext cx="2498598" cy="3017520"/>
          </a:xfrm>
          <a:prstGeom prst="roundRect">
            <a:avLst>
              <a:gd name="adj" fmla="val 2196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1938528"/>
            <a:ext cx="21328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Q3 2026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731520" y="23317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2324405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DONE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731520" y="2743200"/>
            <a:ext cx="21328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Testnet asset · live price oracle · PoG bridge · site + Explorer · whitepaper v2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3412998" y="1783080"/>
            <a:ext cx="2498598" cy="3017520"/>
          </a:xfrm>
          <a:prstGeom prst="roundRect">
            <a:avLst>
              <a:gd name="adj" fmla="val 2196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595878" y="1938528"/>
            <a:ext cx="21328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Q4 2026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595878" y="23317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595878" y="2324405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NEXT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595878" y="2743200"/>
            <a:ext cx="21328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 Arrayán pilot hardware · meter-signed readings · first real PoG events · 3 reference installs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77356" y="1783080"/>
            <a:ext cx="2498598" cy="3017520"/>
          </a:xfrm>
          <a:prstGeom prst="roundRect">
            <a:avLst>
              <a:gd name="adj" fmla="val 2196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60236" y="1938528"/>
            <a:ext cx="21328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Q1 2027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6460236" y="23317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60236" y="2324405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460236" y="2743200"/>
            <a:ext cx="21328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Soroban verification contract · treasury multisig · security audit · WattNode v1 in field</a:t>
            </a:r>
            <a:endParaRPr lang="en-US" sz="1150" dirty="0"/>
          </a:p>
        </p:txBody>
      </p:sp>
      <p:sp>
        <p:nvSpPr>
          <p:cNvPr id="21" name="Shape 19"/>
          <p:cNvSpPr/>
          <p:nvPr/>
        </p:nvSpPr>
        <p:spPr>
          <a:xfrm>
            <a:off x="9141714" y="1783080"/>
            <a:ext cx="2498598" cy="3017520"/>
          </a:xfrm>
          <a:prstGeom prst="roundRect">
            <a:avLst>
              <a:gd name="adj" fmla="val 2196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324594" y="1938528"/>
            <a:ext cx="213283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0E8DC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Q2 2027</a:t>
            </a:r>
            <a:endParaRPr lang="en-US" sz="1400" dirty="0"/>
          </a:p>
        </p:txBody>
      </p:sp>
      <p:sp>
        <p:nvSpPr>
          <p:cNvPr id="23" name="Shape 21"/>
          <p:cNvSpPr/>
          <p:nvPr/>
        </p:nvSpPr>
        <p:spPr>
          <a:xfrm>
            <a:off x="9324594" y="2331720"/>
            <a:ext cx="91440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8B7A6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9324594" y="2324405"/>
            <a:ext cx="914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PLANNED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9324594" y="2743200"/>
            <a:ext cx="2132838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QWATT-C attribute layer · settlement apps · regulatory evaluation pre-mainnet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548640" y="5074920"/>
            <a:ext cx="1109167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next visible milestone: QW-000001 — the first energy event from a real roof, at its own shareable URL in the Explorer.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 2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kern="0" spc="30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HOW YOU CAN HELP US GROW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ask to the Stellar community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48640" y="1691640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1143000" y="1645920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SCF support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3931920" y="1645920"/>
            <a:ext cx="77083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application path: Tranche 0 (legal review of the token + attribute model) and Tranche 2 (fund 10–20 prosumers with real meters). Feedback on the draft welcome.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48640" y="2532888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02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143000" y="2487168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Soroban design review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931920" y="2487168"/>
            <a:ext cx="77083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verification contract (meter signatures, two-party minting, vintage invariant, QWATT-C mint/retire). We want experienced eyes before we build it.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374136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03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1143000" y="3328416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Ecosystem connections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31920" y="3328416"/>
            <a:ext cx="77083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Anchors and wallets for LatAm, projects doing RWA/oracle work on Stellar, and anyone who has taken a testnet asset through compliance to mainnet.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4215384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04</a:t>
            </a:r>
            <a:endParaRPr lang="en-US" sz="1700" dirty="0"/>
          </a:p>
        </p:txBody>
      </p:sp>
      <p:sp>
        <p:nvSpPr>
          <p:cNvPr id="16" name="Text 14"/>
          <p:cNvSpPr/>
          <p:nvPr/>
        </p:nvSpPr>
        <p:spPr>
          <a:xfrm>
            <a:off x="1143000" y="4169664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partners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3931920" y="4169664"/>
            <a:ext cx="77083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Roofs in Chile (or elsewhere) willing to host a WattNode — and energy-sector people who can challenge our SCADA-to-chain assumptions.</a:t>
            </a:r>
            <a:endParaRPr lang="en-US" sz="1150" dirty="0"/>
          </a:p>
        </p:txBody>
      </p:sp>
      <p:sp>
        <p:nvSpPr>
          <p:cNvPr id="18" name="Text 16"/>
          <p:cNvSpPr/>
          <p:nvPr/>
        </p:nvSpPr>
        <p:spPr>
          <a:xfrm>
            <a:off x="548640" y="5056632"/>
            <a:ext cx="502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1143000" y="5010912"/>
            <a:ext cx="2651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Break our claims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3931920" y="5010912"/>
            <a:ext cx="7708392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code is public. Read the whitepaper, audit the Explorer, tell us where the evidence chain is weakest. Accuracy is our moat — help us defend it.</a:t>
            </a:r>
            <a:endParaRPr lang="en-US" sz="11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182880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DON’T TRUST IT.</a:t>
            </a:r>
            <a:endParaRPr lang="en-US" sz="4000" dirty="0"/>
          </a:p>
        </p:txBody>
      </p:sp>
      <p:sp>
        <p:nvSpPr>
          <p:cNvPr id="3" name="Text 1"/>
          <p:cNvSpPr/>
          <p:nvPr/>
        </p:nvSpPr>
        <p:spPr>
          <a:xfrm>
            <a:off x="0" y="2514600"/>
            <a:ext cx="1218895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000" b="1" dirty="0">
                <a:solidFill>
                  <a:srgbClr val="D08A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VERIFY IT.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0" y="352044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qwatt.org · qwatt.org/proof · qwatt.org/whitepaper.html · github.com/academiaseul/QWATT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0" y="4069080"/>
            <a:ext cx="121889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00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Jay &amp; Diego — co-founders, shared roles: both engineer, both design, both sell, both build.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1371600" y="5577840"/>
            <a:ext cx="9445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B7A6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Everything runs on Stellar testnet. Nothing here is an offer of securities or investment advice; QWATT is not for sale. Legal review precedes any mainnet or commercial step.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WattNode architecture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WATTNODE ARCHITECTURE</a:t>
            </a:r>
            <a:endParaRPr lang="en-US" sz="1100" dirty="0"/>
          </a:p>
        </p:txBody>
      </p:sp>
      <p:sp>
        <p:nvSpPr>
          <p:cNvPr id="5" name="Text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From panel to public ledger</a:t>
            </a:r>
            <a:endParaRPr lang="en-US" sz="3000" dirty="0"/>
          </a:p>
        </p:txBody>
      </p:sp>
      <p:pic>
        <p:nvPicPr>
          <p:cNvPr id="2" name="WattNode diagram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6000" y="1481328"/>
            <a:ext cx="7160000" cy="485857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tatus August 2026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STATUS — AUGUST 2026</a:t>
            </a:r>
            <a:endParaRPr lang="en-US" sz="1100" dirty="0"/>
          </a:p>
        </p:txBody>
      </p:sp>
      <p:sp>
        <p:nvSpPr>
          <p:cNvPr id="5" name="Text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Shipped since the hackathon</a:t>
            </a:r>
            <a:endParaRPr lang="en-US" sz="3000" dirty="0"/>
          </a:p>
        </p:txBody>
      </p:sp>
      <p:sp>
        <p:nvSpPr>
          <p:cNvPr id="6" name="Card"/>
          <p:cNvSpPr/>
          <p:nvPr/>
        </p:nvSpPr>
        <p:spPr>
          <a:xfrm>
            <a:off x="548640" y="169164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"/>
          <p:cNvSpPr/>
          <p:nvPr/>
        </p:nvSpPr>
        <p:spPr>
          <a:xfrm>
            <a:off x="777240" y="182880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Brand + product</a:t>
            </a:r>
            <a:endParaRPr lang="en-US" sz="1500" dirty="0"/>
          </a:p>
        </p:txBody>
      </p:sp>
      <p:sp>
        <p:nvSpPr>
          <p:cNvPr id="8" name="Chip"/>
          <p:cNvSpPr/>
          <p:nvPr/>
        </p:nvSpPr>
        <p:spPr>
          <a:xfrm>
            <a:off x="4585716" y="185623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9" name="Text"/>
          <p:cNvSpPr/>
          <p:nvPr/>
        </p:nvSpPr>
        <p:spPr>
          <a:xfrm>
            <a:off x="4585716" y="184891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</a:t>
            </a:r>
            <a:endParaRPr lang="en-US" sz="850" dirty="0"/>
          </a:p>
        </p:txBody>
      </p:sp>
      <p:sp>
        <p:nvSpPr>
          <p:cNvPr id="10" name="Text"/>
          <p:cNvSpPr/>
          <p:nvPr/>
        </p:nvSpPr>
        <p:spPr>
          <a:xfrm>
            <a:off x="777240" y="222199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Q-ring identity, day/night editorial UI, status-dot navigation — Lighthouse 100 accessibility, 100 best practices, 100 SEO</a:t>
            </a:r>
            <a:endParaRPr lang="en-US" sz="1150" dirty="0"/>
          </a:p>
        </p:txBody>
      </p:sp>
      <p:sp>
        <p:nvSpPr>
          <p:cNvPr id="11" name="Card"/>
          <p:cNvSpPr/>
          <p:nvPr/>
        </p:nvSpPr>
        <p:spPr>
          <a:xfrm>
            <a:off x="6277356" y="169164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2" name="Text"/>
          <p:cNvSpPr/>
          <p:nvPr/>
        </p:nvSpPr>
        <p:spPr>
          <a:xfrm>
            <a:off x="6505956" y="182880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Growth stack</a:t>
            </a:r>
            <a:endParaRPr lang="en-US" sz="1500" dirty="0"/>
          </a:p>
        </p:txBody>
      </p:sp>
      <p:sp>
        <p:nvSpPr>
          <p:cNvPr id="13" name="Chip"/>
          <p:cNvSpPr/>
          <p:nvPr/>
        </p:nvSpPr>
        <p:spPr>
          <a:xfrm>
            <a:off x="10314432" y="185623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3CB87F"/>
            </a:solidFill>
            <a:prstDash val="solid"/>
          </a:ln>
        </p:spPr>
      </p:sp>
      <p:sp>
        <p:nvSpPr>
          <p:cNvPr id="14" name="Text"/>
          <p:cNvSpPr/>
          <p:nvPr/>
        </p:nvSpPr>
        <p:spPr>
          <a:xfrm>
            <a:off x="10314432" y="184891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3CB87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● LIVE</a:t>
            </a:r>
            <a:endParaRPr lang="en-US" sz="850" dirty="0"/>
          </a:p>
        </p:txBody>
      </p:sp>
      <p:sp>
        <p:nvSpPr>
          <p:cNvPr id="15" name="Text"/>
          <p:cNvSpPr/>
          <p:nvPr/>
        </p:nvSpPr>
        <p:spPr>
          <a:xfrm>
            <a:off x="6505956" y="222199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GA4 analytics · direct-contact form to the founders’ inbox · branded OG share cards · auto-deploys from GitHub</a:t>
            </a:r>
            <a:endParaRPr lang="en-US" sz="1150" dirty="0"/>
          </a:p>
        </p:txBody>
      </p:sp>
      <p:sp>
        <p:nvSpPr>
          <p:cNvPr id="16" name="Card"/>
          <p:cNvSpPr/>
          <p:nvPr/>
        </p:nvSpPr>
        <p:spPr>
          <a:xfrm>
            <a:off x="548640" y="342900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7" name="Text"/>
          <p:cNvSpPr/>
          <p:nvPr/>
        </p:nvSpPr>
        <p:spPr>
          <a:xfrm>
            <a:off x="777240" y="356616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Community</a:t>
            </a:r>
            <a:endParaRPr lang="en-US" sz="1500" dirty="0"/>
          </a:p>
        </p:txBody>
      </p:sp>
      <p:sp>
        <p:nvSpPr>
          <p:cNvPr id="18" name="Chip"/>
          <p:cNvSpPr/>
          <p:nvPr/>
        </p:nvSpPr>
        <p:spPr>
          <a:xfrm>
            <a:off x="4585716" y="359359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19" name="Text"/>
          <p:cNvSpPr/>
          <p:nvPr/>
        </p:nvSpPr>
        <p:spPr>
          <a:xfrm>
            <a:off x="4585716" y="35862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READY</a:t>
            </a:r>
            <a:endParaRPr lang="en-US" sz="850" dirty="0"/>
          </a:p>
        </p:txBody>
      </p:sp>
      <p:sp>
        <p:nvSpPr>
          <p:cNvPr id="20" name="Text"/>
          <p:cNvSpPr/>
          <p:nvPr/>
        </p:nvSpPr>
        <p:spPr>
          <a:xfrm>
            <a:off x="777240" y="395935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 launch kit: LinkedIn + X + promo art · Stellar Barrio: Instawards sprint call booked for the September round</a:t>
            </a:r>
            <a:endParaRPr lang="en-US" sz="1150" dirty="0"/>
          </a:p>
        </p:txBody>
      </p:sp>
      <p:sp>
        <p:nvSpPr>
          <p:cNvPr id="21" name="Card"/>
          <p:cNvSpPr/>
          <p:nvPr/>
        </p:nvSpPr>
        <p:spPr>
          <a:xfrm>
            <a:off x="6277356" y="342900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2" name="Text"/>
          <p:cNvSpPr/>
          <p:nvPr/>
        </p:nvSpPr>
        <p:spPr>
          <a:xfrm>
            <a:off x="6505956" y="356616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unlock</a:t>
            </a:r>
            <a:endParaRPr lang="en-US" sz="1500" dirty="0"/>
          </a:p>
        </p:txBody>
      </p:sp>
      <p:sp>
        <p:nvSpPr>
          <p:cNvPr id="23" name="Chip"/>
          <p:cNvSpPr/>
          <p:nvPr/>
        </p:nvSpPr>
        <p:spPr>
          <a:xfrm>
            <a:off x="10314432" y="359359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9B26A"/>
            </a:solidFill>
            <a:prstDash val="solid"/>
          </a:ln>
        </p:spPr>
      </p:sp>
      <p:sp>
        <p:nvSpPr>
          <p:cNvPr id="24" name="Text"/>
          <p:cNvSpPr/>
          <p:nvPr/>
        </p:nvSpPr>
        <p:spPr>
          <a:xfrm>
            <a:off x="10314432" y="35862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9B26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PENDING</a:t>
            </a:r>
            <a:endParaRPr lang="en-US" sz="850" dirty="0"/>
          </a:p>
        </p:txBody>
      </p:sp>
      <p:sp>
        <p:nvSpPr>
          <p:cNvPr id="25" name="Text"/>
          <p:cNvSpPr/>
          <p:nvPr/>
        </p:nvSpPr>
        <p:spPr>
          <a:xfrm>
            <a:off x="6505956" y="395935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First real PoG event — QW-000001 in the Explorer · home_domain so wallets read the asset’s stellar.toml brand</a:t>
            </a:r>
            <a:endParaRPr lang="en-US" sz="1150" dirty="0"/>
          </a:p>
        </p:txBody>
      </p:sp>
      <p:sp>
        <p:nvSpPr>
          <p:cNvPr id="26" name="Text"/>
          <p:cNvSpPr/>
          <p:nvPr/>
        </p:nvSpPr>
        <p:spPr>
          <a:xfrm>
            <a:off x="548640" y="5349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Four days from hackathon demo to a branded, measured, launch-ready protocol site.</a:t>
            </a:r>
            <a:endParaRPr lang="en-US" sz="12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Instawards sprint">
    <p:bg>
      <p:bgPr>
        <a:solidFill>
          <a:srgbClr val="1610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"/>
          <p:cNvSpPr/>
          <p:nvPr/>
        </p:nvSpPr>
        <p:spPr>
          <a:xfrm>
            <a:off x="548640" y="647395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⚡ QWATT</a:t>
            </a:r>
            <a:endParaRPr lang="en-US" sz="1000" dirty="0"/>
          </a:p>
        </p:txBody>
      </p:sp>
      <p:sp>
        <p:nvSpPr>
          <p:cNvPr id="3" name="Text"/>
          <p:cNvSpPr/>
          <p:nvPr/>
        </p:nvSpPr>
        <p:spPr>
          <a:xfrm>
            <a:off x="7525512" y="6473952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B7A6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Clean Token · qwatt.org</a:t>
            </a:r>
            <a:endParaRPr lang="en-US" sz="900" dirty="0"/>
          </a:p>
        </p:txBody>
      </p:sp>
      <p:sp>
        <p:nvSpPr>
          <p:cNvPr id="4" name="Text"/>
          <p:cNvSpPr/>
          <p:nvPr/>
        </p:nvSpPr>
        <p:spPr>
          <a:xfrm>
            <a:off x="548640" y="384048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spc="300" kern="0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THE FIRST SPRINT — STELLAR INSTAWARDS</a:t>
            </a:r>
            <a:endParaRPr lang="en-US" sz="1100" dirty="0"/>
          </a:p>
        </p:txBody>
      </p:sp>
      <p:sp>
        <p:nvSpPr>
          <p:cNvPr id="5" name="Text"/>
          <p:cNvSpPr/>
          <p:nvPr/>
        </p:nvSpPr>
        <p:spPr>
          <a:xfrm>
            <a:off x="548640" y="658368"/>
            <a:ext cx="1109167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WattNode v0: the first real kWh on-chain</a:t>
            </a:r>
            <a:endParaRPr lang="en-US" sz="3000" dirty="0"/>
          </a:p>
        </p:txBody>
      </p:sp>
      <p:sp>
        <p:nvSpPr>
          <p:cNvPr id="6" name="Card"/>
          <p:cNvSpPr/>
          <p:nvPr/>
        </p:nvSpPr>
        <p:spPr>
          <a:xfrm>
            <a:off x="548640" y="169164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7" name="Text"/>
          <p:cNvSpPr/>
          <p:nvPr/>
        </p:nvSpPr>
        <p:spPr>
          <a:xfrm>
            <a:off x="777240" y="182880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P1 · First real PoG</a:t>
            </a:r>
            <a:endParaRPr lang="en-US" sz="1500" dirty="0"/>
          </a:p>
        </p:txBody>
      </p:sp>
      <p:sp>
        <p:nvSpPr>
          <p:cNvPr id="8" name="Chip"/>
          <p:cNvSpPr/>
          <p:nvPr/>
        </p:nvSpPr>
        <p:spPr>
          <a:xfrm>
            <a:off x="4585716" y="185623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9" name="Text"/>
          <p:cNvSpPr/>
          <p:nvPr/>
        </p:nvSpPr>
        <p:spPr>
          <a:xfrm>
            <a:off x="4585716" y="184891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3</a:t>
            </a:r>
            <a:endParaRPr lang="en-US" sz="850" dirty="0"/>
          </a:p>
        </p:txBody>
      </p:sp>
      <p:sp>
        <p:nvSpPr>
          <p:cNvPr id="10" name="Text"/>
          <p:cNvSpPr/>
          <p:nvPr/>
        </p:nvSpPr>
        <p:spPr>
          <a:xfrm>
            <a:off x="777240" y="222199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Real meters (Modbus RTU + Shelly 3EM) → gateway → PoG memo → QW-000001 visible to anyone in the Explorer</a:t>
            </a:r>
            <a:endParaRPr lang="en-US" sz="1150" dirty="0"/>
          </a:p>
        </p:txBody>
      </p:sp>
      <p:sp>
        <p:nvSpPr>
          <p:cNvPr id="11" name="Card"/>
          <p:cNvSpPr/>
          <p:nvPr/>
        </p:nvSpPr>
        <p:spPr>
          <a:xfrm>
            <a:off x="6277356" y="169164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2" name="Text"/>
          <p:cNvSpPr/>
          <p:nvPr/>
        </p:nvSpPr>
        <p:spPr>
          <a:xfrm>
            <a:off x="6505956" y="182880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P2 · Node signing</a:t>
            </a:r>
            <a:endParaRPr lang="en-US" sz="1500" dirty="0"/>
          </a:p>
        </p:txBody>
      </p:sp>
      <p:sp>
        <p:nvSpPr>
          <p:cNvPr id="13" name="Chip"/>
          <p:cNvSpPr/>
          <p:nvPr/>
        </p:nvSpPr>
        <p:spPr>
          <a:xfrm>
            <a:off x="10314432" y="185623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4" name="Text"/>
          <p:cNvSpPr/>
          <p:nvPr/>
        </p:nvSpPr>
        <p:spPr>
          <a:xfrm>
            <a:off x="10314432" y="184891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3</a:t>
            </a:r>
            <a:endParaRPr lang="en-US" sz="850" dirty="0"/>
          </a:p>
        </p:txBody>
      </p:sp>
      <p:sp>
        <p:nvSpPr>
          <p:cNvPr id="15" name="Text"/>
          <p:cNvSpPr/>
          <p:nvPr/>
        </p:nvSpPr>
        <p:spPr>
          <a:xfrm>
            <a:off x="6505956" y="222199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Panel key on the gateway; two-signature mint — a compromised node is a broken sensor, not a money printer</a:t>
            </a:r>
            <a:endParaRPr lang="en-US" sz="1150" dirty="0"/>
          </a:p>
        </p:txBody>
      </p:sp>
      <p:sp>
        <p:nvSpPr>
          <p:cNvPr id="16" name="Card"/>
          <p:cNvSpPr/>
          <p:nvPr/>
        </p:nvSpPr>
        <p:spPr>
          <a:xfrm>
            <a:off x="548640" y="342900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17" name="Text"/>
          <p:cNvSpPr/>
          <p:nvPr/>
        </p:nvSpPr>
        <p:spPr>
          <a:xfrm>
            <a:off x="777240" y="356616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P3 · Physical anti-fraud</a:t>
            </a:r>
            <a:endParaRPr lang="en-US" sz="1500" dirty="0"/>
          </a:p>
        </p:txBody>
      </p:sp>
      <p:sp>
        <p:nvSpPr>
          <p:cNvPr id="18" name="Chip"/>
          <p:cNvSpPr/>
          <p:nvPr/>
        </p:nvSpPr>
        <p:spPr>
          <a:xfrm>
            <a:off x="4585716" y="359359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19" name="Text"/>
          <p:cNvSpPr/>
          <p:nvPr/>
        </p:nvSpPr>
        <p:spPr>
          <a:xfrm>
            <a:off x="4585716" y="35862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4</a:t>
            </a:r>
            <a:endParaRPr lang="en-US" sz="850" dirty="0"/>
          </a:p>
        </p:txBody>
      </p:sp>
      <p:sp>
        <p:nvSpPr>
          <p:cNvPr id="20" name="Text"/>
          <p:cNvSpPr/>
          <p:nvPr/>
        </p:nvSpPr>
        <p:spPr>
          <a:xfrm>
            <a:off x="777240" y="395935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Sun witness + validators: capacity cap, night generation, meter divergence, clock drift, tamper flags</a:t>
            </a:r>
            <a:endParaRPr lang="en-US" sz="1150" dirty="0"/>
          </a:p>
        </p:txBody>
      </p:sp>
      <p:sp>
        <p:nvSpPr>
          <p:cNvPr id="21" name="Card"/>
          <p:cNvSpPr/>
          <p:nvPr/>
        </p:nvSpPr>
        <p:spPr>
          <a:xfrm>
            <a:off x="6277356" y="3429000"/>
            <a:ext cx="5362956" cy="1417320"/>
          </a:xfrm>
          <a:prstGeom prst="roundRect">
            <a:avLst>
              <a:gd name="adj" fmla="val 3871"/>
            </a:avLst>
          </a:prstGeom>
          <a:solidFill>
            <a:srgbClr val="231A10"/>
          </a:solidFill>
          <a:ln w="12700">
            <a:solidFill>
              <a:srgbClr val="3B2D1D"/>
            </a:solidFill>
            <a:prstDash val="solid"/>
          </a:ln>
        </p:spPr>
      </p:sp>
      <p:sp>
        <p:nvSpPr>
          <p:cNvPr id="22" name="Text"/>
          <p:cNvSpPr/>
          <p:nvPr/>
        </p:nvSpPr>
        <p:spPr>
          <a:xfrm>
            <a:off x="6505956" y="3566160"/>
            <a:ext cx="3717036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0E8D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P4 · Public write-up</a:t>
            </a:r>
            <a:endParaRPr lang="en-US" sz="1500" dirty="0"/>
          </a:p>
        </p:txBody>
      </p:sp>
      <p:sp>
        <p:nvSpPr>
          <p:cNvPr id="23" name="Chip"/>
          <p:cNvSpPr/>
          <p:nvPr/>
        </p:nvSpPr>
        <p:spPr>
          <a:xfrm>
            <a:off x="10314432" y="3593592"/>
            <a:ext cx="1097280" cy="237744"/>
          </a:xfrm>
          <a:prstGeom prst="roundRect">
            <a:avLst>
              <a:gd name="adj" fmla="val 50000"/>
            </a:avLst>
          </a:prstGeom>
          <a:solidFill>
            <a:srgbClr val="16100A"/>
          </a:solidFill>
          <a:ln w="12700">
            <a:solidFill>
              <a:srgbClr val="D08A57"/>
            </a:solidFill>
            <a:prstDash val="solid"/>
          </a:ln>
        </p:spPr>
      </p:sp>
      <p:sp>
        <p:nvSpPr>
          <p:cNvPr id="24" name="Text"/>
          <p:cNvSpPr/>
          <p:nvPr/>
        </p:nvSpPr>
        <p:spPr>
          <a:xfrm>
            <a:off x="10314432" y="3586277"/>
            <a:ext cx="1097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b="1" dirty="0">
                <a:solidFill>
                  <a:srgbClr val="D08A57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WEEK 4</a:t>
            </a:r>
            <a:endParaRPr lang="en-US" sz="850" dirty="0"/>
          </a:p>
        </p:txBody>
      </p:sp>
      <p:sp>
        <p:nvSpPr>
          <p:cNvPr id="25" name="Text"/>
          <p:cNvSpPr/>
          <p:nvPr/>
        </p:nvSpPr>
        <p:spPr>
          <a:xfrm>
            <a:off x="6505956" y="3959352"/>
            <a:ext cx="490575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B3A48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Bilingual write-up + demo video + code on GitHub — presented live at Stellar Barrio</a:t>
            </a:r>
            <a:endParaRPr lang="en-US" sz="1150" dirty="0"/>
          </a:p>
        </p:txBody>
      </p:sp>
      <p:sp>
        <p:nvSpPr>
          <p:cNvPr id="26" name="Text"/>
          <p:cNvSpPr/>
          <p:nvPr/>
        </p:nvSpPr>
        <p:spPr>
          <a:xfrm>
            <a:off x="548640" y="5349240"/>
            <a:ext cx="110916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D9B26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Ask: ≈ $900 USD in verification hardware · the solar system already exists · labor contributed by the team.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1829</Words>
  <Application>Microsoft Office PowerPoint</Application>
  <PresentationFormat>Widescreen</PresentationFormat>
  <Paragraphs>234</Paragraphs>
  <Slides>17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QWATT - The Clean Token - Stellar Community</dc:title>
  <dc:subject>PptxGenJS Presentation</dc:subject>
  <dc:creator>QWATT</dc:creator>
  <cp:lastModifiedBy>Jae Hee Kim</cp:lastModifiedBy>
  <cp:revision>2</cp:revision>
  <dcterms:created xsi:type="dcterms:W3CDTF">2026-08-23T11:26:42Z</dcterms:created>
  <dcterms:modified xsi:type="dcterms:W3CDTF">2026-08-23T11:28:12Z</dcterms:modified>
</cp:coreProperties>
</file>